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7191add6a848dd" /><Relationship Type="http://schemas.openxmlformats.org/officeDocument/2006/relationships/extended-properties" Target="/docProps/app.xml" Id="R8e85a57088464ff3" /><Relationship Type="http://schemas.openxmlformats.org/officeDocument/2006/relationships/officeDocument" Target="/ppt/presentation.xml" Id="R84ed1a8b9bfb4c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f71c7d58b7414b"/>
  </p:sldMasterIdLst>
  <p:notesMasterIdLst>
    <p:notesMasterId xmlns:r="http://schemas.openxmlformats.org/officeDocument/2006/relationships" r:id="R427d9d106f774c18"/>
  </p:notesMasterIdLst>
  <p:sldIdLst>
    <p:sldId xmlns:r="http://schemas.openxmlformats.org/officeDocument/2006/relationships" id="256" r:id="R18966fcfa8964835"/>
    <p:sldId xmlns:r="http://schemas.openxmlformats.org/officeDocument/2006/relationships" id="257" r:id="Rb3182db1645a40cc"/>
    <p:sldId xmlns:r="http://schemas.openxmlformats.org/officeDocument/2006/relationships" id="258" r:id="R3100491bdbdc4b5d"/>
    <p:sldId xmlns:r="http://schemas.openxmlformats.org/officeDocument/2006/relationships" id="259" r:id="R3796cf744a834b48"/>
    <p:sldId xmlns:r="http://schemas.openxmlformats.org/officeDocument/2006/relationships" id="260" r:id="R881ac15aa30d4d85"/>
    <p:sldId xmlns:r="http://schemas.openxmlformats.org/officeDocument/2006/relationships" id="261" r:id="R93bc85a370954f4d"/>
    <p:sldId xmlns:r="http://schemas.openxmlformats.org/officeDocument/2006/relationships" id="262" r:id="R9be4141bed074a76"/>
    <p:sldId xmlns:r="http://schemas.openxmlformats.org/officeDocument/2006/relationships" id="263" r:id="R29cb18af10864330"/>
    <p:sldId xmlns:r="http://schemas.openxmlformats.org/officeDocument/2006/relationships" id="264" r:id="R0dfd0adb2c7d4c5f"/>
    <p:sldId xmlns:r="http://schemas.openxmlformats.org/officeDocument/2006/relationships" id="265" r:id="R96262e76faa94c3a"/>
    <p:sldId xmlns:r="http://schemas.openxmlformats.org/officeDocument/2006/relationships" id="266" r:id="R2660a96d258f4b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accec2d6b942a7" /><Relationship Type="http://schemas.openxmlformats.org/officeDocument/2006/relationships/slideMaster" Target="/ppt/slideMasters/slideMaster1.xml" Id="Rc0f71c7d58b7414b" /><Relationship Type="http://schemas.openxmlformats.org/officeDocument/2006/relationships/notesMaster" Target="/ppt/notesMasters/notesMaster1.xml" Id="R427d9d106f774c18" /><Relationship Type="http://schemas.openxmlformats.org/officeDocument/2006/relationships/presProps" Target="/ppt/presProps.xml" Id="Rfecd95ca1c4d41e9" /><Relationship Type="http://schemas.openxmlformats.org/officeDocument/2006/relationships/tableStyles" Target="/ppt/tableStyles.xml" Id="R6b7c829dfc544019" /><Relationship Type="http://schemas.openxmlformats.org/officeDocument/2006/relationships/slide" Target="/ppt/slides/slide1.xml" Id="R18966fcfa8964835" /><Relationship Type="http://schemas.openxmlformats.org/officeDocument/2006/relationships/slide" Target="/ppt/slides/slide2.xml" Id="Rb3182db1645a40cc" /><Relationship Type="http://schemas.openxmlformats.org/officeDocument/2006/relationships/slide" Target="/ppt/slides/slide3.xml" Id="R3100491bdbdc4b5d" /><Relationship Type="http://schemas.openxmlformats.org/officeDocument/2006/relationships/slide" Target="/ppt/slides/slide4.xml" Id="R3796cf744a834b48" /><Relationship Type="http://schemas.openxmlformats.org/officeDocument/2006/relationships/slide" Target="/ppt/slides/slide5.xml" Id="R881ac15aa30d4d85" /><Relationship Type="http://schemas.openxmlformats.org/officeDocument/2006/relationships/slide" Target="/ppt/slides/slide6.xml" Id="R93bc85a370954f4d" /><Relationship Type="http://schemas.openxmlformats.org/officeDocument/2006/relationships/slide" Target="/ppt/slides/slide7.xml" Id="R9be4141bed074a76" /><Relationship Type="http://schemas.openxmlformats.org/officeDocument/2006/relationships/slide" Target="/ppt/slides/slide8.xml" Id="R29cb18af10864330" /><Relationship Type="http://schemas.openxmlformats.org/officeDocument/2006/relationships/slide" Target="/ppt/slides/slide9.xml" Id="R0dfd0adb2c7d4c5f" /><Relationship Type="http://schemas.openxmlformats.org/officeDocument/2006/relationships/slide" Target="/ppt/slides/slide10.xml" Id="R96262e76faa94c3a" /><Relationship Type="http://schemas.openxmlformats.org/officeDocument/2006/relationships/slide" Target="/ppt/slides/slide11.xml" Id="R2660a96d258f4b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4d6799a12a44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35c304951847e9" /><Relationship Type="http://schemas.openxmlformats.org/officeDocument/2006/relationships/notesMaster" Target="/ppt/notesMasters/notesMaster1.xml" Id="R9d71c1bb4e804d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db43cc036c4fe1" /><Relationship Type="http://schemas.openxmlformats.org/officeDocument/2006/relationships/notesMaster" Target="/ppt/notesMasters/notesMaster1.xml" Id="R52b99bb0956a42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eb57c2a9764782" /><Relationship Type="http://schemas.openxmlformats.org/officeDocument/2006/relationships/notesMaster" Target="/ppt/notesMasters/notesMaster1.xml" Id="Rea7e5222220241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4ec8eb4baf43f3" /><Relationship Type="http://schemas.openxmlformats.org/officeDocument/2006/relationships/notesMaster" Target="/ppt/notesMasters/notesMaster1.xml" Id="R102a68a5ad834d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f30dbea3a541c7" /><Relationship Type="http://schemas.openxmlformats.org/officeDocument/2006/relationships/notesMaster" Target="/ppt/notesMasters/notesMaster1.xml" Id="R743497556ea34a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764827eccf44ed" /><Relationship Type="http://schemas.openxmlformats.org/officeDocument/2006/relationships/notesMaster" Target="/ppt/notesMasters/notesMaster1.xml" Id="R5fe87e8323db4f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83402d6c7e43a5" /><Relationship Type="http://schemas.openxmlformats.org/officeDocument/2006/relationships/notesMaster" Target="/ppt/notesMasters/notesMaster1.xml" Id="R37ab68397e574b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d4cf2bbccc429f" /><Relationship Type="http://schemas.openxmlformats.org/officeDocument/2006/relationships/notesMaster" Target="/ppt/notesMasters/notesMaster1.xml" Id="Rf7f4501ac1834a1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243ccb5ed3c48a7" /><Relationship Type="http://schemas.openxmlformats.org/officeDocument/2006/relationships/notesMaster" Target="/ppt/notesMasters/notesMaster1.xml" Id="R030afe7ee81842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020e7efea264655" /><Relationship Type="http://schemas.openxmlformats.org/officeDocument/2006/relationships/notesMaster" Target="/ppt/notesMasters/notesMaster1.xml" Id="Rb49fec505942442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eeec5f887c74394" /><Relationship Type="http://schemas.openxmlformats.org/officeDocument/2006/relationships/notesMaster" Target="/ppt/notesMasters/notesMaster1.xml" Id="Rae051616fcee4b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사이트는 공식 근거를 찾고 검토하고 승인해 조직의 지식으로 남기는 사내 업무 시스템입니다.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이전 검토가 다음 검토의 출발점이 되지 못하는 구조를 해결하고자 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질문 하나가 공식 근거와 사람의 검토를 거쳐 재사용 가능한 조직 지식이 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PDF, DOCX, TXT, CSV, 이미지 문서도 함께 검토할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국가법령정보센터 Open API로 판례, 조세심판례, 세법 해석례를 통합 검색합니다.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결과는 단순 요약이 아니라 실무자가 판단하고 행동할 수 있는 구조로 제공합니다.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생성형 AI를 그대로 신뢰하지 않고 근거 제한, 인용 검증, 담당자 승인으로 오류 가능성을 낮춥니다.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 건의 검토를 질문, 쟁점, 근거, 결론, 상태로 나누어 재검색할 수 있게 저장합니다.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지식 DB의 품질은 저장량보다 승인 기준에서 결정됩니다.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내부 자료는 참고 맥락으로 사용하며 공식 자료와 충돌하면 공식 근거를 우선합니다. 106건과 199건은 로컬 DB 확인값입니다.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최종 가치는 답변 속도뿐 아니라 검토할수록 회사의 기준과 경험이 남는다는 점입니다.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fef09004c541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603da03f3849d6" /><Relationship Type="http://schemas.openxmlformats.org/officeDocument/2006/relationships/slideLayout" Target="/ppt/slideLayouts/slideLayout1.xml" Id="R2bbaf00661934c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baf00661934c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69b66eb694ccd" /><Relationship Type="http://schemas.openxmlformats.org/officeDocument/2006/relationships/image" Target="/ppt/media/image.jpeg" Id="Rccf84ce3ca5b47b8" /><Relationship Type="http://schemas.openxmlformats.org/officeDocument/2006/relationships/notesSlide" Target="/ppt/notesSlides/notesSlide1.xml" Id="R0a2a39b51b6142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f303b308546ff" /><Relationship Type="http://schemas.openxmlformats.org/officeDocument/2006/relationships/notesSlide" Target="/ppt/notesSlides/notesSlide2.xml" Id="R12406925a56647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0eb183dfe54236" /><Relationship Type="http://schemas.openxmlformats.org/officeDocument/2006/relationships/notesSlide" Target="/ppt/notesSlides/notesSlide3.xml" Id="R6a6cd7ae0ee94a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b16aef8e54944" /><Relationship Type="http://schemas.openxmlformats.org/officeDocument/2006/relationships/image" Target="/ppt/media/image2.jpeg" Id="Rd6d0a952a66b439c" /><Relationship Type="http://schemas.openxmlformats.org/officeDocument/2006/relationships/notesSlide" Target="/ppt/notesSlides/notesSlide4.xml" Id="R6c7feb3a04fd42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29073ddb741cf" /><Relationship Type="http://schemas.openxmlformats.org/officeDocument/2006/relationships/image" Target="/ppt/media/image3.jpeg" Id="R96aef4d1422c4586" /><Relationship Type="http://schemas.openxmlformats.org/officeDocument/2006/relationships/notesSlide" Target="/ppt/notesSlides/notesSlide5.xml" Id="R39156b0c225f46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3f7d9fc194c84" /><Relationship Type="http://schemas.openxmlformats.org/officeDocument/2006/relationships/image" Target="/ppt/media/image4.jpeg" Id="R6c5400295dae40b2" /><Relationship Type="http://schemas.openxmlformats.org/officeDocument/2006/relationships/notesSlide" Target="/ppt/notesSlides/notesSlide6.xml" Id="R19305127a3944d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dca911ef84607" /><Relationship Type="http://schemas.openxmlformats.org/officeDocument/2006/relationships/notesSlide" Target="/ppt/notesSlides/notesSlide7.xml" Id="Ra6b517ce4e724a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34855fb444bf6" /><Relationship Type="http://schemas.openxmlformats.org/officeDocument/2006/relationships/image" Target="/ppt/media/image5.jpeg" Id="R2f0baf6d84bb406f" /><Relationship Type="http://schemas.openxmlformats.org/officeDocument/2006/relationships/notesSlide" Target="/ppt/notesSlides/notesSlide8.xml" Id="Rdcc5b8fbce6640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689a268e04dbf" /><Relationship Type="http://schemas.openxmlformats.org/officeDocument/2006/relationships/notesSlide" Target="/ppt/notesSlides/notesSlide9.xml" Id="Rec595782bbf9428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b946021094caf" /><Relationship Type="http://schemas.openxmlformats.org/officeDocument/2006/relationships/notesSlide" Target="/ppt/notesSlides/notesSlide10.xml" Id="Re51f36340942406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83bbf4abc4264" /><Relationship Type="http://schemas.openxmlformats.org/officeDocument/2006/relationships/notesSlide" Target="/ppt/notesSlides/notesSlide11.xml" Id="Ra8217b21297c49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5B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064459-535A-4EFC-8B49-48470E98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4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994DD3-C97D-402C-8932-F94C6F20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69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f84ce3ca5b47b8"/>
          <a:srcRect xmlns:a="http://schemas.openxmlformats.org/drawingml/2006/main" l="10000" t="2000" r="2000" b="5000"/>
          <a:stretch xmlns:a="http://schemas.openxmlformats.org/drawingml/2006/main"/>
        </p:blipFill>
        <p:spPr>
          <a:xfrm xmlns:a="http://schemas.openxmlformats.org/drawingml/2006/main">
            <a:off x="6572250" y="1047750"/>
            <a:ext cx="5048250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26CC36-A0CC-4001-9A99-77718836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CJ FRESHWAY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323570-1680-4D1E-B469-678CA876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5334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4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세무 리서치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4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&amp; AI 검토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5D9939-73DF-4BBB-9E80-3D509A5D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공식 판례 검색부터</a:t>
            </a:r>
          </a:p>
          <a:p xmlns:a="http://schemas.openxmlformats.org/drawingml/2006/main">
            <a:pPr algn="l">
              <a:defRPr sz="2025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승인 지식 축적까지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6CA8FB-9F0B-4B83-818C-B60B80EA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5716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84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850D60-4AE8-4322-9D90-BC1F1D35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경영지원담당 회계팀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0A8418-DE92-427C-8E96-D47E2992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2026. 09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0ACB4E-0BE0-43EF-B5E9-45AD970F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42A259-4FAB-47FB-911C-65CBDDAB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1 / 11</a:t>
            </a:r>
          </a:p>
        </p:txBody>
      </p:sp>
    </p:spTree>
    <p:extLst>
      <p:ext uri="{BB962C8B-B14F-4D97-AF65-F5344CB8AC3E}">
        <p14:creationId xmlns:p14="http://schemas.microsoft.com/office/powerpoint/2010/main" val="5421164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82CE71-E12B-428C-AB9F-CE8D31B0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E9D64-AE42-497B-A864-947E093D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세무 검토 업무의 반복 비용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2BBFC2-12BB-4867-B591-5488DF1B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68C98E-5D66-482F-AB8C-40124EF8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다시 찾고,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03E27-7F87-4EFF-AAE0-756C7824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542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다시 판단하고,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194D7E-21B0-4F68-AADC-18F85A64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542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다시 저장합니다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E8B6E9-5B85-4E0D-8195-CE4FFC77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38375"/>
            <a:ext cx="4762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6F8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950F08-469E-4398-9147-9FDDC5F2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법령·판례·예규가 여러 곳에 흩어짐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7A424D-5E37-4313-B0E9-398341A5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4762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834474-BC15-4C3F-B7F6-CC9F0A0D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같은 쟁점을 담당자마다 다시 검색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F307FD-441D-4517-94CC-B1A6FC62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33875"/>
            <a:ext cx="4762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6F8F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5F4CCF-438E-4F90-B6B5-5CF098FF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7675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검토 결과가 개인 파일과 메일에 남음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5DB055-1D15-47D9-BE02-B2DD6415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5B45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5B45"/>
                </a:solidFill>
                <a:latin typeface="Pretendard"/>
                <a:ea typeface="Pretendard"/>
                <a:cs typeface="Pretendard"/>
              </a:rPr>
              <a:t>자료 부족보다 검색·판단·보관의 단절이 문제였습니다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567E5B-AE7A-44B8-9FA0-1434007D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84D69D-50FF-4581-954B-87617AE5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2 / 11</a:t>
            </a:r>
          </a:p>
        </p:txBody>
      </p:sp>
    </p:spTree>
    <p:extLst>
      <p:ext uri="{BB962C8B-B14F-4D97-AF65-F5344CB8AC3E}">
        <p14:creationId xmlns:p14="http://schemas.microsoft.com/office/powerpoint/2010/main" val="1339275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2E3797-4170-43E2-8A01-ED43AE37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9C0B33-B44A-4C36-B1C3-2648E8E0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한 건의 질문을 검증된 지식으로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F4125B-63AA-4E2F-ADB9-2F2C1A83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검색 시간을 줄이는 데서 끝내지 않고 다음 검토의 출발점으로 만듭니다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8C749-CE27-43F9-9E04-5FB3DE37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E4153-83DC-407C-A3E0-4B442E89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1952625" cy="247650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E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437846-D77E-4F17-8077-35AFA6CB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B14DB2-FB58-4FBF-BF29-549BD638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95625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세무 질문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C9261C-64D9-489A-8C1F-D4B25FD6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504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업무 상황을</a:t>
            </a:r>
          </a:p>
          <a:p xmlns:a="http://schemas.openxmlformats.org/drawingml/2006/main">
            <a:pPr algn="l">
              <a:def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자연어로 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84DC1-C06F-4E33-AC3B-1F103EFF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2861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61FB54-3496-435B-847D-A845A53E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81250"/>
            <a:ext cx="1952625" cy="247650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E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938F0E-39D5-4538-A335-4A00656F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908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E84433-5E81-4762-A13A-C9F4FE0B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95625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공식 자료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875B97-EF7A-4A3C-8D09-D2E28F51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14750"/>
            <a:ext cx="1504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판례·심판례·</a:t>
            </a:r>
          </a:p>
          <a:p xmlns:a="http://schemas.openxmlformats.org/drawingml/2006/main">
            <a:pPr algn="l">
              <a:def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해석례 검색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765608-E6F0-4B38-8BEC-7EFB6AD2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861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0B08F7-4AC5-4320-B9B3-C993B402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81250"/>
            <a:ext cx="1952625" cy="247650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E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8913C6-2431-4F05-BA7F-5C73D5EF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908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1BA0A8-4340-4719-AADB-2F930DB1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95625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AI 검토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838A15-6287-4B4C-89FE-673E6DD3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14750"/>
            <a:ext cx="1504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쟁점·판단·</a:t>
            </a:r>
          </a:p>
          <a:p xmlns:a="http://schemas.openxmlformats.org/drawingml/2006/main">
            <a:pPr algn="l">
              <a:def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증빙 구조화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C7F23D-3729-4DD2-ADD3-07676B38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2861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D1807F-70FB-4E57-9FD5-A3C81289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81250"/>
            <a:ext cx="1952625" cy="247650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E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B049D8-2F29-413D-99C1-0B91127F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908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ABAD9A-27F2-4AF4-BB1B-EBF8792D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95625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담당자 승인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C4C9A3-7D80-4268-B116-4C6328E8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14750"/>
            <a:ext cx="1504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결론과 근거를</a:t>
            </a:r>
          </a:p>
          <a:p xmlns:a="http://schemas.openxmlformats.org/drawingml/2006/main">
            <a:pPr algn="l">
              <a:def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사람이 확인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17462B-230E-41F1-93EC-2889A1DE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2861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AD52FD-279C-4B8D-926B-8F462245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81250"/>
            <a:ext cx="1952625" cy="247650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005B45"/>
          </a:solidFill>
          <a:ln xmlns:a="http://schemas.openxmlformats.org/drawingml/2006/main" w="9525">
            <a:solidFill>
              <a:srgbClr val="005B4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034140-FC22-458C-8E98-76A62316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908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9B06DC-FBCF-456F-AAF6-5E335264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095625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지식 재사용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6A5654-5CDE-47D5-807E-31018998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714750"/>
            <a:ext cx="1504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다음 검토에서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승인 지식 검색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2E28A7-AE35-4877-9EA3-FD33F6EB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5B45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5B45"/>
                </a:solidFill>
                <a:latin typeface="Pretendard"/>
                <a:ea typeface="Pretendard"/>
                <a:cs typeface="Pretendard"/>
              </a:rPr>
              <a:t>질문이 일회성 답변으로 끝나지 않는 폐쇄형 검토 흐름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808944-CB79-44F2-A362-006B14FA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49E1CC-4D2E-4A0E-B636-EDA3D693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3 / 11</a:t>
            </a:r>
          </a:p>
        </p:txBody>
      </p:sp>
    </p:spTree>
    <p:extLst>
      <p:ext uri="{BB962C8B-B14F-4D97-AF65-F5344CB8AC3E}">
        <p14:creationId xmlns:p14="http://schemas.microsoft.com/office/powerpoint/2010/main" val="5679393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24ED07-B224-49B7-A809-AC2CDDBB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D05F4-8F48-4D93-A4A7-91CBF89C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자연어로 시작하는 세무 검토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23E2B3-ADBE-4E06-8EF6-5E708C5C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검색어를 설계하지 않고 실제 업무 상황을 그대로 설명합니다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8A433B-DF15-43D9-9932-C34634DA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3"/>
            </a:solidFill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d0a952a66b439c"/>
          <a:srcRect xmlns:a="http://schemas.openxmlformats.org/drawingml/2006/main" l="10000" t="10000" r="2000" b="15000"/>
          <a:stretch xmlns:a="http://schemas.openxmlformats.org/drawingml/2006/main"/>
        </p:blipFill>
        <p:spPr>
          <a:xfrm xmlns:a="http://schemas.openxmlformats.org/drawingml/2006/main">
            <a:off x="571500" y="2047875"/>
            <a:ext cx="7334250" cy="3952875"/>
          </a:xfrm>
          <a:prstGeom xmlns:a="http://schemas.openxmlformats.org/drawingml/2006/main" prst="roundRect">
            <a:avLst>
              <a:gd name="adj" fmla="val 2892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9F2508-5079-48D8-8677-D4216E2E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47875"/>
            <a:ext cx="3381375" cy="3952875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005B4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F7750A-42B5-4B67-B8EF-2BBBD497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714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자동 추출하는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7대 사실관계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FC3452-9DC5-4537-AAE2-7C1BD4A2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81375"/>
            <a:ext cx="27146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세목</a:t>
            </a:r>
          </a:p>
          <a:p xmlns:a="http://schemas.openxmlformats.org/drawingml/2006/main">
            <a:pPr algn="l">
              <a:def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거래 유형</a:t>
            </a:r>
          </a:p>
          <a:p xmlns:a="http://schemas.openxmlformats.org/drawingml/2006/main">
            <a:pPr algn="l">
              <a:def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금액과 상대방</a:t>
            </a:r>
          </a:p>
          <a:p xmlns:a="http://schemas.openxmlformats.org/drawingml/2006/main">
            <a:pPr algn="l">
              <a:def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과세기간</a:t>
            </a:r>
          </a:p>
          <a:p xmlns:a="http://schemas.openxmlformats.org/drawingml/2006/main">
            <a:pPr algn="l">
              <a:def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보유 증빙</a:t>
            </a:r>
          </a:p>
          <a:p xmlns:a="http://schemas.openxmlformats.org/drawingml/2006/main">
            <a:pPr algn="l">
              <a:def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검토 목적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CCA741-AE62-46E7-8E57-F66B9584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FE9BBA-7B2A-449C-A5C0-D728A68A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4 / 11</a:t>
            </a:r>
          </a:p>
        </p:txBody>
      </p:sp>
    </p:spTree>
    <p:extLst>
      <p:ext uri="{BB962C8B-B14F-4D97-AF65-F5344CB8AC3E}">
        <p14:creationId xmlns:p14="http://schemas.microsoft.com/office/powerpoint/2010/main" val="8711247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F03764-71FF-464C-951C-A4760EBC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52DACD-DC4C-4172-9451-EB4B01A8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국가법령 공식 DB 기반 검색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9C1B82-FBB9-4B05-B4B8-DD245AF8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AI의 기억이 아니라 실제 검색 결과를 분석 재료로 사용합니다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520992-FE75-4BA3-BF81-F3C9E0DD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3"/>
            </a:solidFill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aef4d1422c4586"/>
          <a:srcRect xmlns:a="http://schemas.openxmlformats.org/drawingml/2006/main" l="18000" t="12000" r="2000" b="10000"/>
          <a:stretch xmlns:a="http://schemas.openxmlformats.org/drawingml/2006/main"/>
        </p:blipFill>
        <p:spPr>
          <a:xfrm xmlns:a="http://schemas.openxmlformats.org/drawingml/2006/main">
            <a:off x="4095750" y="2000250"/>
            <a:ext cx="75247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7D2FB1-1DCB-4269-90BE-FEB44495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공식 근거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1ABCDD-12D2-484E-9AA0-C520DC52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법원 판례</a:t>
            </a:r>
          </a:p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조세심판례</a:t>
            </a:r>
          </a:p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국세청·기재부 해석례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39E11C-CAB8-4836-9B41-A3C26511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33875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6CAB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3398C4-3791-4408-AB92-321F3D24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24375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사건번호·출처·원문 링크</a:t>
            </a:r>
          </a:p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관련도와 근거 유형 표시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CCA217-B714-4EEE-A32C-A0BF9954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2952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01AC3F-45D6-4F74-9C1D-2268FBDB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388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5B4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05B45"/>
                </a:solidFill>
                <a:latin typeface="Pretendard"/>
                <a:ea typeface="Pretendard"/>
                <a:cs typeface="Pretendard"/>
              </a:rPr>
              <a:t>공식 DB 검증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7FC5F1-F8E2-49B5-ABB0-6ADE53F2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C84FCF-9291-4531-BA54-2B899993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5 / 11</a:t>
            </a:r>
          </a:p>
        </p:txBody>
      </p:sp>
    </p:spTree>
    <p:extLst>
      <p:ext uri="{BB962C8B-B14F-4D97-AF65-F5344CB8AC3E}">
        <p14:creationId xmlns:p14="http://schemas.microsoft.com/office/powerpoint/2010/main" val="15021730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B730DC-4EDA-4287-9CA8-D57CE128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EBAB09-B3D4-4412-B144-BAE48F3A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실무 판단에 필요한 구조화된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206CE4-DF72-4F1C-A432-82577405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긴 원문을 쟁점·판단·증빙 중심의 검토안으로 바꿉니다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BC14B9-78E7-4106-A8F6-846E7B9B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75EB94-B0CC-48B3-9DC4-E7443F82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쟁점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808DF8-CDF2-4E42-A81B-2B0DF080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3812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6CAB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B137D4-ECE3-4243-BFB7-A8268B1F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1431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관련 세법과 핵심 사실관계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97F2D8-9349-4584-92EF-75E3F9E0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대조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237C05-884C-4FD3-BF74-32BC67AD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575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6CAB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A9CE97-08A9-428C-AA4A-F51851E0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0194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과세 논리와 납세자 방어 논리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DD6453-6A25-4A9B-9ADB-D7DA8D8F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95725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판단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72FFAA-71FB-4B96-958C-CFEBC667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338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6CAB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929496-FA9A-49F7-AA00-FD09E750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8957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법원·심판원의 최종 판단 기준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228CF6-DD1D-4027-B846-A7A7EAD1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72025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실행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93F381-8717-4039-B6BD-3F2B2EBA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101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6CAB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AB1CE1-66FF-45A2-B7E7-316EA61E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7720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회계 처리 유의사항과 필수 증빙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5400295dae40b2"/>
          <a:srcRect xmlns:a="http://schemas.openxmlformats.org/drawingml/2006/main" l="16000" t="8000" r="1000" b="13000"/>
          <a:stretch xmlns:a="http://schemas.openxmlformats.org/drawingml/2006/main"/>
        </p:blipFill>
        <p:spPr>
          <a:xfrm xmlns:a="http://schemas.openxmlformats.org/drawingml/2006/main">
            <a:off x="6858000" y="2047875"/>
            <a:ext cx="4762500" cy="3667125"/>
          </a:xfrm>
          <a:prstGeom xmlns:a="http://schemas.openxmlformats.org/drawingml/2006/main" prst="roundRect">
            <a:avLst>
              <a:gd name="adj" fmla="val 3117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85CF3A-A75E-4799-9611-74BDDCA9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626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5B45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5B45"/>
                </a:solidFill>
                <a:latin typeface="Pretendard"/>
                <a:ea typeface="Pretendard"/>
                <a:cs typeface="Pretendard"/>
              </a:rPr>
              <a:t>요약형 · 검토의견형 · 상세검토형 보고서 제공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91496D-15BE-42B1-88A8-833B4004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D7D053-687D-482B-9E60-F356F0D1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6 / 11</a:t>
            </a:r>
          </a:p>
        </p:txBody>
      </p:sp>
    </p:spTree>
    <p:extLst>
      <p:ext uri="{BB962C8B-B14F-4D97-AF65-F5344CB8AC3E}">
        <p14:creationId xmlns:p14="http://schemas.microsoft.com/office/powerpoint/2010/main" val="7511241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5B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8AA886-EDBE-4C3D-8871-525A0DEC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2E9197-D98F-4391-9138-6E5ED2D7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AI 답변을 통제하는 세 가지 장치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9C042-2E95-4D03-BBAF-4B1D717C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169B99-3854-4ADD-8E47-5E0283EB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CAED6-F8F4-4EFA-868B-E403047A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38E772-D9E7-41C8-9D05-2F652BF4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답변을 통제하는 세 가지 장치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5BCB29-147A-4072-9DE1-6B86E64E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F6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40FF6E-849A-4B45-BCFE-A2729C1C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E6940A-A033-40BA-9341-E3D707F5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E30934-D057-4CB7-8FF3-1B3110B1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90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공식 검색 풀 제한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2AA7DE-BB84-4F4B-8FF5-44A0C254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검색 결과에 없는 사건번호는</a:t>
            </a:r>
          </a:p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답변 근거로 사용할 수 없습니다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70C0AC-1517-4122-97F8-6E37F440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4F772A-F9B8-4AF9-B7C0-73ABD719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717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70A21A-FBA7-405C-90C0-1E2877F3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190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인용 검증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5CB8FC-74CC-4F09-9249-A222FFDD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57625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AI 인용을 실제 검색 결과와</a:t>
            </a:r>
          </a:p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다시 대조합니다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A8F666-B9A1-4C70-8ABB-CA67BC23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08F6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2DFB08-3848-42FB-9F0B-C0AD4BE0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717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3F4F6B-62C8-41BB-996F-E64C20BA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90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사람의 승인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53F4E5-DEBD-47E7-AC0C-40553109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57625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회계팀이 결론과 근거를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확인한 뒤 지식으로 승인합니다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78C1F3-B9DC-469F-88CB-64DE532E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공식 데이터 · 시스템 검증 · 담당자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87ADA0-1A87-46C3-87D9-F4F63FC1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E872D0-58A0-40F7-832D-895717D3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7 / 11</a:t>
            </a:r>
          </a:p>
        </p:txBody>
      </p:sp>
    </p:spTree>
    <p:extLst>
      <p:ext uri="{BB962C8B-B14F-4D97-AF65-F5344CB8AC3E}">
        <p14:creationId xmlns:p14="http://schemas.microsoft.com/office/powerpoint/2010/main" val="20740121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8D2179-7647-4501-8523-BFB053C2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CECA73-F800-419E-8D87-EEE247A1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검토 이력의 구조화 저장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C0666-2CBE-434D-8D1B-812630B4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완성 문서만 남기지 않고 검색 가능한 데이터 단위로 축적합니다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418A6-DD0C-421C-AC26-D96B18DD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3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0baf6d84bb406f"/>
          <a:srcRect xmlns:a="http://schemas.openxmlformats.org/drawingml/2006/main" l="12000" t="10000" r="2000" b="12000"/>
          <a:stretch xmlns:a="http://schemas.openxmlformats.org/drawingml/2006/main"/>
        </p:blipFill>
        <p:spPr>
          <a:xfrm xmlns:a="http://schemas.openxmlformats.org/drawingml/2006/main">
            <a:off x="571500" y="2047875"/>
            <a:ext cx="7429500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1CB5A-6BE6-402E-BADD-8345BE9B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43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저장되는 정보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412EE8-BE00-499D-82B1-849AC19A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622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6CAB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780299-BED8-40BA-822D-8386020B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6670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최초 질문과 사실관계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CA75A2-5796-4F37-AAA1-6097E54A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337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6CAB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BF0D0E-B684-446B-BE0B-01C924DB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2385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핵심 쟁점과 위험도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B82D6D-3EE9-4B62-8C8D-6BD5C230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052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6CAB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F64B2C-ED73-46C8-9C5D-ED74E4B8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8100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인용 판례와 해석례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496B4A-F631-4BCE-B40A-2130F729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767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6CAB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AB05A5-3366-4D25-913E-585CBC35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3815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AI 결론과 필수 증빙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25F1B8-9871-4080-942E-73B36008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482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8F6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F02944-8A41-4620-BDB0-005D6E7D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9530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검토 상태와 담당자 메모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644325-01D7-4585-9D1C-14DF5552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BC3E66-E18B-44FF-82BA-2E3255CD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8 / 11</a:t>
            </a:r>
          </a:p>
        </p:txBody>
      </p:sp>
    </p:spTree>
    <p:extLst>
      <p:ext uri="{BB962C8B-B14F-4D97-AF65-F5344CB8AC3E}">
        <p14:creationId xmlns:p14="http://schemas.microsoft.com/office/powerpoint/2010/main" val="11949588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8B8500-37FD-4B2E-A694-3EF30780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F8B3D6-27F0-4844-A34F-8CB52A20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승인 과정을 거친 조직 지식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50D469-0912-4383-B3DB-AF48C0F7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AI 결과 전체가 아니라 사람이 확인한 결과만 지식으로 남깁니다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3886FA-3147-40FF-87E1-1E1F9712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41424A-D185-416D-BB9F-A195F862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2333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E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8FF0C2-6F2F-4469-8AE0-8C45152C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20DD39-6A73-43D7-9774-001B22E2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승인 후보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5CB486-3ABB-4183-8E10-F5B7D835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0037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7557E0-E383-46BF-BD1A-C80E951C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19375"/>
            <a:ext cx="2333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9525">
            <a:solidFill>
              <a:srgbClr val="DDE7E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558799-12D2-45FC-A089-2F441BA3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62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DA94F9-87D5-4869-AC6F-FA13D375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0515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검토 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A67903-5DF7-4065-86F1-B1663B63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0037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698372-3415-47C3-BB55-BAE14ECB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19375"/>
            <a:ext cx="2333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08F69"/>
          </a:solidFill>
          <a:ln xmlns:a="http://schemas.openxmlformats.org/drawingml/2006/main" w="9525">
            <a:solidFill>
              <a:srgbClr val="008F6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A8C560-14EA-4E86-8DFF-FD5905CC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62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8401DE-7931-4E31-9F3C-8F79A147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0515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승인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4EE24B-0E11-4EAF-A2DD-453D441B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0037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8A7B45-645A-484B-8A27-A72EFABA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19375"/>
            <a:ext cx="2333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05B45"/>
          </a:solidFill>
          <a:ln xmlns:a="http://schemas.openxmlformats.org/drawingml/2006/main" w="9525">
            <a:solidFill>
              <a:srgbClr val="005B4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A83CAC-0893-4C4C-B8D7-E7A9CB77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62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D30C65-F33C-4763-88D0-FED95E32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0515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승인된 자료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56F88F-531D-4FDE-B5B1-0011E117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0858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5609F5-BA26-4891-9411-820AC40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00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84D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684D"/>
                </a:solidFill>
                <a:latin typeface="Pretendard"/>
                <a:ea typeface="Pretendard"/>
                <a:cs typeface="Pretendard"/>
              </a:rPr>
              <a:t>반려 결과는 별도 보관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92476E-3C77-4CE9-B4DA-22712F00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검토 품질을 높이는 기록으로 남기되, 다음 답변의 우선 지식으로 사용하지 않습니다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673BC8-90F5-4301-A85A-E1BCA3F8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A5ACB8-593B-4A01-8964-5BF1E9FD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9 / 11</a:t>
            </a:r>
          </a:p>
        </p:txBody>
      </p:sp>
    </p:spTree>
    <p:extLst>
      <p:ext uri="{BB962C8B-B14F-4D97-AF65-F5344CB8AC3E}">
        <p14:creationId xmlns:p14="http://schemas.microsoft.com/office/powerpoint/2010/main" val="8938846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363A08-66CD-4F23-83A1-4CBB738F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9E7955-6067-4F45-9B98-50E9806B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새로운 검토에 다시 사용되는 과거 지식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2035CE-D037-4324-88A8-F9941C62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승인된 검토를 우선 검색하고 내부 자료와 공식 근거를 함께 참고합니다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D129D7-BD6A-448A-9E32-00860AF8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B17036-515A-477C-8113-44F718E1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2857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05B4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BBE245-EB53-45FF-8B70-0F675B51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14625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새로운 세무 질문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B75082-1ECB-4922-B20A-38BDF10D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857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6F8F8"/>
          </a:solidFill>
          <a:ln xmlns:a="http://schemas.openxmlformats.org/drawingml/2006/main" w="9525">
            <a:solidFill>
              <a:srgbClr val="DDE7E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0329F8-4A4B-490C-B74A-68774BF5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95250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F6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C997F7-D969-47BF-BD72-3F6CAA5F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05075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승인 검토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3E2483-0C5B-4A2C-879B-072FA10F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337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회계팀이 확인한 과거 결론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0AC58F-7FAF-4283-B686-C05AB662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857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6F8F8"/>
          </a:solidFill>
          <a:ln xmlns:a="http://schemas.openxmlformats.org/drawingml/2006/main" w="9525">
            <a:solidFill>
              <a:srgbClr val="DDE7E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5301BF-3EC0-4FC4-8BDD-E4CCFE94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95250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CAB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E792E3-7CB3-4B4C-B0EC-8FAA2860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내부 자료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9C15A0-9B11-4496-8E8F-5610963C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958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Obsidian 선별 문서 106건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7730A2-3B89-40AD-BBEC-92E18145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2857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6F8F8"/>
          </a:solidFill>
          <a:ln xmlns:a="http://schemas.openxmlformats.org/drawingml/2006/main" w="9525">
            <a:solidFill>
              <a:srgbClr val="DDE7E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9AEE60-C442-416C-82B9-C51FFC67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95250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5B4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858DC1-DE7D-454D-99FB-39AA9E6E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62325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공식 DB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2D7223-0689-4DCB-8F36-C8ACF4A6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909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판례·심판례·세법 해석례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748222-266A-4BF4-BAAB-51890CB6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0512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6CAB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59825D-3D66-49A8-9878-51576B43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672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6CAB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3008C2-3D4C-4119-94A3-7BBC7F8F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8142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6CAB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247B30-28EB-4944-B007-F02347F3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33875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013322-CF1D-47FB-ACDD-AC77C3CE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29150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5B45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5B45"/>
                </a:solidFill>
                <a:latin typeface="Pretendard"/>
                <a:ea typeface="Pretendard"/>
                <a:cs typeface="Pretendard"/>
              </a:rPr>
              <a:t>AI 검토 + 담당자 승인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20F8C4-307E-4763-A0FA-2F521D65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검색용 텍스트 청크 199건 · 2026-09-30 현재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C875A2-6AC4-408D-92D2-1329E998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6D1C65-654D-4BAC-B21A-9FBCDE51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10 / 11</a:t>
            </a:r>
          </a:p>
        </p:txBody>
      </p:sp>
    </p:spTree>
    <p:extLst>
      <p:ext uri="{BB962C8B-B14F-4D97-AF65-F5344CB8AC3E}">
        <p14:creationId xmlns:p14="http://schemas.microsoft.com/office/powerpoint/2010/main" val="21232847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5B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752EEF-E37D-49EC-8AB1-FD0BAED9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E33CB-7F61-470C-8C54-D00C9B39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619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반복 검색에서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축적되는 검토 체계로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A6618F-15BA-4150-A0D5-D350429A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6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E4EA3D-C8C6-49FD-AB86-7D051D59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기대 효과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CAA13-07CB-450A-B5A8-17333F3C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5095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공식 근거 탐색과 초안 작성 시간 단축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담당자별 검토 방식의 편차 감소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과거 검토의 재사용과 인수인계 개선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79A416-078F-4547-85CE-43AB872F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43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다음 단계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93CCE0-E14A-414F-8F3E-5655591C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67125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사용 데이터를 통한 효과 측정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승인 기준과 담당 권한 정립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사내 인증 기반 운영 환경 검토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76EF25-7031-4C3B-B13C-AD189ADE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11049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08F6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5A39BD-B93B-45EC-B1D4-F019A946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530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검증된 판단을 계속 축적하는 시스템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9CC402-E0D2-4251-AA62-FFE08511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7D0404-916B-4D56-A85B-01EE81DE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11 / 11</a:t>
            </a:r>
          </a:p>
        </p:txBody>
      </p:sp>
    </p:spTree>
    <p:extLst>
      <p:ext uri="{BB962C8B-B14F-4D97-AF65-F5344CB8AC3E}">
        <p14:creationId xmlns:p14="http://schemas.microsoft.com/office/powerpoint/2010/main" val="10629585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2026-09-30T04:29:46.3610000Z</dcterms:created>
  <dcterms:modified xsi:type="dcterms:W3CDTF">2026-09-30T04:29:46.3610000Z</dcterms:modified>
</coreProperties>
</file>